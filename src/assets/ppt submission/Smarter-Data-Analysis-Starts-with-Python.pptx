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Bahnschrift Light SemiCondensed" panose="020B0502040204020203" pitchFamily="34" charset="0"/>
      <p:regular r:id="rId14"/>
    </p:embeddedFont>
    <p:embeddedFont>
      <p:font typeface="Baskerville Old Face" panose="02020602080505020303" pitchFamily="18" charset="0"/>
      <p:regular r:id="rId15"/>
    </p:embeddedFont>
    <p:embeddedFont>
      <p:font typeface="Fraunces Extra Bold" panose="020B0604020202020204" charset="0"/>
      <p:regular r:id="rId16"/>
    </p:embeddedFont>
    <p:embeddedFont>
      <p:font typeface="Nobile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160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svg"/><Relationship Id="rId11" Type="http://schemas.openxmlformats.org/officeDocument/2006/relationships/image" Target="../media/image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sv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attitudetallyacademy.com/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Smarter Data Analysis Starts with Python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Unlock the power of data-driven insights and transform your career with Python programming for analytics and machine learning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278BC0-4A09-4179-DCB4-BAFAD03F91AB}"/>
              </a:ext>
            </a:extLst>
          </p:cNvPr>
          <p:cNvSpPr/>
          <p:nvPr/>
        </p:nvSpPr>
        <p:spPr>
          <a:xfrm>
            <a:off x="12633158" y="7531768"/>
            <a:ext cx="1888958" cy="601579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 descr="attitude academy">
            <a:extLst>
              <a:ext uri="{FF2B5EF4-FFF2-40B4-BE49-F238E27FC236}">
                <a16:creationId xmlns:a16="http://schemas.microsoft.com/office/drawing/2014/main" id="{042A407B-184B-8CCB-E147-74ACFB327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9" y="34374"/>
            <a:ext cx="1280159" cy="50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74125"/>
            <a:ext cx="2115145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696522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642110"/>
            <a:ext cx="157079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ANALYTICS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091095"/>
            <a:ext cx="106271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Why Python Dominates Data Science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3344108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 has become the </a:t>
            </a: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leading programming language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data analysis, machine learning, and artificial intelligence. Its versatility, extensive libraries, and ease of learning make it indispensable for modern data professionals.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36269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From financial modelling to predictive analytics, Python empowers analysts to extract meaningful insights from complex datasets efficiently.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3508534"/>
            <a:ext cx="2980611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83%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7672149" y="45403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Market Share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99521" y="5121473"/>
            <a:ext cx="298061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scientists using Python globally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863620" y="3508534"/>
            <a:ext cx="2980611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47%</a:t>
            </a:r>
            <a:endParaRPr lang="en-US" sz="5850" dirty="0"/>
          </a:p>
        </p:txBody>
      </p:sp>
      <p:sp>
        <p:nvSpPr>
          <p:cNvPr id="12" name="Text 9"/>
          <p:cNvSpPr/>
          <p:nvPr/>
        </p:nvSpPr>
        <p:spPr>
          <a:xfrm>
            <a:off x="10936248" y="45403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Salary Increase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863620" y="5121473"/>
            <a:ext cx="298061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Average boost with Python skills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7924FC-5784-BF61-5084-9A5D6535A64A}"/>
              </a:ext>
            </a:extLst>
          </p:cNvPr>
          <p:cNvSpPr/>
          <p:nvPr/>
        </p:nvSpPr>
        <p:spPr>
          <a:xfrm>
            <a:off x="12633158" y="7531768"/>
            <a:ext cx="1888958" cy="601579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 descr="attitude academy">
            <a:extLst>
              <a:ext uri="{FF2B5EF4-FFF2-40B4-BE49-F238E27FC236}">
                <a16:creationId xmlns:a16="http://schemas.microsoft.com/office/drawing/2014/main" id="{CDA39324-6D2C-8FDD-EDFA-79E018F70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9" y="34374"/>
            <a:ext cx="1280159" cy="50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44208" y="1153001"/>
            <a:ext cx="7118866" cy="39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Essential Python Libraries for Data Analysis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044208" y="1739979"/>
            <a:ext cx="8028265" cy="1238964"/>
          </a:xfrm>
          <a:prstGeom prst="roundRect">
            <a:avLst>
              <a:gd name="adj" fmla="val 9220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Shape 2"/>
          <p:cNvSpPr/>
          <p:nvPr/>
        </p:nvSpPr>
        <p:spPr>
          <a:xfrm>
            <a:off x="6171128" y="1866900"/>
            <a:ext cx="380762" cy="380762"/>
          </a:xfrm>
          <a:prstGeom prst="roundRect">
            <a:avLst>
              <a:gd name="adj" fmla="val 24012600"/>
            </a:avLst>
          </a:prstGeom>
          <a:solidFill>
            <a:srgbClr val="43895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5784" y="1971556"/>
            <a:ext cx="171331" cy="1713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1128" y="2374583"/>
            <a:ext cx="1586508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Pandas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171128" y="2649022"/>
            <a:ext cx="777442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manipulation and analysis with powerful DataFrames for structured data processing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044208" y="3105864"/>
            <a:ext cx="8028265" cy="1238964"/>
          </a:xfrm>
          <a:prstGeom prst="roundRect">
            <a:avLst>
              <a:gd name="adj" fmla="val 9220"/>
            </a:avLst>
          </a:prstGeom>
          <a:solidFill>
            <a:srgbClr val="E8F3E8"/>
          </a:solidFill>
          <a:ln/>
        </p:spPr>
      </p:sp>
      <p:sp>
        <p:nvSpPr>
          <p:cNvPr id="10" name="Shape 6"/>
          <p:cNvSpPr/>
          <p:nvPr/>
        </p:nvSpPr>
        <p:spPr>
          <a:xfrm>
            <a:off x="6171128" y="3232785"/>
            <a:ext cx="380762" cy="380762"/>
          </a:xfrm>
          <a:prstGeom prst="roundRect">
            <a:avLst>
              <a:gd name="adj" fmla="val 24012600"/>
            </a:avLst>
          </a:prstGeom>
          <a:solidFill>
            <a:srgbClr val="438951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75784" y="3337441"/>
            <a:ext cx="171331" cy="1713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71128" y="3740468"/>
            <a:ext cx="1586508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NumPy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171128" y="4014907"/>
            <a:ext cx="777442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Numerical computing with multi-dimensional arrays and mathematical functions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044208" y="4471749"/>
            <a:ext cx="8028265" cy="1238964"/>
          </a:xfrm>
          <a:prstGeom prst="roundRect">
            <a:avLst>
              <a:gd name="adj" fmla="val 9220"/>
            </a:avLst>
          </a:prstGeom>
          <a:solidFill>
            <a:srgbClr val="E8F3E8"/>
          </a:solidFill>
          <a:ln/>
        </p:spPr>
      </p:sp>
      <p:sp>
        <p:nvSpPr>
          <p:cNvPr id="15" name="Shape 10"/>
          <p:cNvSpPr/>
          <p:nvPr/>
        </p:nvSpPr>
        <p:spPr>
          <a:xfrm>
            <a:off x="6171128" y="4598670"/>
            <a:ext cx="380762" cy="380762"/>
          </a:xfrm>
          <a:prstGeom prst="roundRect">
            <a:avLst>
              <a:gd name="adj" fmla="val 24012600"/>
            </a:avLst>
          </a:prstGeom>
          <a:solidFill>
            <a:srgbClr val="438951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75784" y="4703326"/>
            <a:ext cx="171331" cy="17133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71128" y="5106353"/>
            <a:ext cx="1586508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171128" y="5380792"/>
            <a:ext cx="777442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 stunning visualisations and interactive plots for data storytelling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044208" y="5837634"/>
            <a:ext cx="8028265" cy="1238964"/>
          </a:xfrm>
          <a:prstGeom prst="roundRect">
            <a:avLst>
              <a:gd name="adj" fmla="val 9220"/>
            </a:avLst>
          </a:prstGeom>
          <a:solidFill>
            <a:srgbClr val="E8F3E8"/>
          </a:solidFill>
          <a:ln/>
        </p:spPr>
      </p:sp>
      <p:sp>
        <p:nvSpPr>
          <p:cNvPr id="20" name="Shape 14"/>
          <p:cNvSpPr/>
          <p:nvPr/>
        </p:nvSpPr>
        <p:spPr>
          <a:xfrm>
            <a:off x="6171128" y="5964555"/>
            <a:ext cx="380762" cy="380762"/>
          </a:xfrm>
          <a:prstGeom prst="roundRect">
            <a:avLst>
              <a:gd name="adj" fmla="val 24012600"/>
            </a:avLst>
          </a:prstGeom>
          <a:solidFill>
            <a:srgbClr val="438951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75784" y="6069211"/>
            <a:ext cx="171331" cy="17133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71128" y="6472237"/>
            <a:ext cx="1586508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171128" y="6746677"/>
            <a:ext cx="777442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Machine learning algorithms for predictive modelling and pattern recognition</a:t>
            </a:r>
            <a:endParaRPr lang="en-US" sz="1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BF7AE2-DF60-C039-5264-31E5E13CD385}"/>
              </a:ext>
            </a:extLst>
          </p:cNvPr>
          <p:cNvSpPr/>
          <p:nvPr/>
        </p:nvSpPr>
        <p:spPr>
          <a:xfrm>
            <a:off x="12633158" y="7531768"/>
            <a:ext cx="1888958" cy="601579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 descr="attitude academy">
            <a:extLst>
              <a:ext uri="{FF2B5EF4-FFF2-40B4-BE49-F238E27FC236}">
                <a16:creationId xmlns:a16="http://schemas.microsoft.com/office/drawing/2014/main" id="{6937A561-EF43-38E8-9E7A-8636747C6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9" y="34374"/>
            <a:ext cx="1280159" cy="50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236" y="753547"/>
            <a:ext cx="1654254" cy="413861"/>
          </a:xfrm>
          <a:prstGeom prst="roundRect">
            <a:avLst>
              <a:gd name="adj" fmla="val 36899"/>
            </a:avLst>
          </a:prstGeom>
          <a:noFill/>
          <a:ln w="7620">
            <a:solidFill>
              <a:srgbClr val="438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7014" y="824746"/>
            <a:ext cx="138469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LEARNING PATH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2236" y="1252180"/>
            <a:ext cx="10092690" cy="6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Your Journey to Python Data Mastery</a:t>
            </a:r>
            <a:endParaRPr lang="en-US" sz="4150" dirty="0"/>
          </a:p>
        </p:txBody>
      </p:sp>
      <p:sp>
        <p:nvSpPr>
          <p:cNvPr id="5" name="Shape 3"/>
          <p:cNvSpPr/>
          <p:nvPr/>
        </p:nvSpPr>
        <p:spPr>
          <a:xfrm>
            <a:off x="1060371" y="2763322"/>
            <a:ext cx="6148626" cy="212050"/>
          </a:xfrm>
          <a:prstGeom prst="roundRect">
            <a:avLst>
              <a:gd name="adj" fmla="val 90021"/>
            </a:avLst>
          </a:prstGeom>
          <a:solidFill>
            <a:srgbClr val="E8F3E8"/>
          </a:solidFill>
          <a:ln/>
        </p:spPr>
      </p:sp>
      <p:sp>
        <p:nvSpPr>
          <p:cNvPr id="6" name="Shape 4"/>
          <p:cNvSpPr/>
          <p:nvPr/>
        </p:nvSpPr>
        <p:spPr>
          <a:xfrm>
            <a:off x="742236" y="2551271"/>
            <a:ext cx="636270" cy="636270"/>
          </a:xfrm>
          <a:prstGeom prst="roundRect">
            <a:avLst>
              <a:gd name="adj" fmla="val 71856"/>
            </a:avLst>
          </a:prstGeom>
          <a:solidFill>
            <a:srgbClr val="E8F3E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303" y="2710339"/>
            <a:ext cx="318135" cy="3181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4286" y="3399592"/>
            <a:ext cx="2765822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Foundation Building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54286" y="3858101"/>
            <a:ext cx="604277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Master Python syntax, data structures, and programming fundamentals through hands-on practice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739301" y="2445187"/>
            <a:ext cx="6148745" cy="212050"/>
          </a:xfrm>
          <a:prstGeom prst="roundRect">
            <a:avLst>
              <a:gd name="adj" fmla="val 90021"/>
            </a:avLst>
          </a:prstGeom>
          <a:solidFill>
            <a:srgbClr val="E8F3E8"/>
          </a:solidFill>
          <a:ln/>
        </p:spPr>
      </p:sp>
      <p:sp>
        <p:nvSpPr>
          <p:cNvPr id="11" name="Shape 8"/>
          <p:cNvSpPr/>
          <p:nvPr/>
        </p:nvSpPr>
        <p:spPr>
          <a:xfrm>
            <a:off x="7421166" y="2233136"/>
            <a:ext cx="636270" cy="636270"/>
          </a:xfrm>
          <a:prstGeom prst="roundRect">
            <a:avLst>
              <a:gd name="adj" fmla="val 71856"/>
            </a:avLst>
          </a:prstGeom>
          <a:solidFill>
            <a:srgbClr val="E8F3E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80233" y="2392204"/>
            <a:ext cx="318135" cy="3181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3216" y="3081457"/>
            <a:ext cx="265116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Wrangling</a:t>
            </a:r>
            <a:endParaRPr lang="en-US" sz="2050" dirty="0"/>
          </a:p>
        </p:txBody>
      </p:sp>
      <p:sp>
        <p:nvSpPr>
          <p:cNvPr id="14" name="Text 10"/>
          <p:cNvSpPr/>
          <p:nvPr/>
        </p:nvSpPr>
        <p:spPr>
          <a:xfrm>
            <a:off x="7633216" y="3539966"/>
            <a:ext cx="6042898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Learn data cleaning, transformation, and preparation techniques using Pandas and NumPy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1060371" y="5490805"/>
            <a:ext cx="6148626" cy="212050"/>
          </a:xfrm>
          <a:prstGeom prst="roundRect">
            <a:avLst>
              <a:gd name="adj" fmla="val 90021"/>
            </a:avLst>
          </a:prstGeom>
          <a:solidFill>
            <a:srgbClr val="E8F3E8"/>
          </a:solidFill>
          <a:ln/>
        </p:spPr>
      </p:sp>
      <p:sp>
        <p:nvSpPr>
          <p:cNvPr id="16" name="Shape 12"/>
          <p:cNvSpPr/>
          <p:nvPr/>
        </p:nvSpPr>
        <p:spPr>
          <a:xfrm>
            <a:off x="742236" y="5278755"/>
            <a:ext cx="636270" cy="636270"/>
          </a:xfrm>
          <a:prstGeom prst="roundRect">
            <a:avLst>
              <a:gd name="adj" fmla="val 71856"/>
            </a:avLst>
          </a:prstGeom>
          <a:solidFill>
            <a:srgbClr val="E8F3E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303" y="5437822"/>
            <a:ext cx="318135" cy="31813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54286" y="6127075"/>
            <a:ext cx="265116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Visualisation Skills</a:t>
            </a:r>
            <a:endParaRPr lang="en-US" sz="2050" dirty="0"/>
          </a:p>
        </p:txBody>
      </p:sp>
      <p:sp>
        <p:nvSpPr>
          <p:cNvPr id="19" name="Text 14"/>
          <p:cNvSpPr/>
          <p:nvPr/>
        </p:nvSpPr>
        <p:spPr>
          <a:xfrm>
            <a:off x="954286" y="6585585"/>
            <a:ext cx="604277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 compelling data visualisations with Matplotlib, Seaborn, and Plotly libraries</a:t>
            </a:r>
            <a:endParaRPr lang="en-US" sz="1650" dirty="0"/>
          </a:p>
        </p:txBody>
      </p:sp>
      <p:sp>
        <p:nvSpPr>
          <p:cNvPr id="20" name="Shape 15"/>
          <p:cNvSpPr/>
          <p:nvPr/>
        </p:nvSpPr>
        <p:spPr>
          <a:xfrm>
            <a:off x="7739301" y="5172670"/>
            <a:ext cx="6148745" cy="212050"/>
          </a:xfrm>
          <a:prstGeom prst="roundRect">
            <a:avLst>
              <a:gd name="adj" fmla="val 90021"/>
            </a:avLst>
          </a:prstGeom>
          <a:solidFill>
            <a:srgbClr val="E8F3E8"/>
          </a:solidFill>
          <a:ln/>
        </p:spPr>
      </p:sp>
      <p:sp>
        <p:nvSpPr>
          <p:cNvPr id="21" name="Shape 16"/>
          <p:cNvSpPr/>
          <p:nvPr/>
        </p:nvSpPr>
        <p:spPr>
          <a:xfrm>
            <a:off x="7421166" y="4960620"/>
            <a:ext cx="636270" cy="636270"/>
          </a:xfrm>
          <a:prstGeom prst="roundRect">
            <a:avLst>
              <a:gd name="adj" fmla="val 71856"/>
            </a:avLst>
          </a:prstGeom>
          <a:solidFill>
            <a:srgbClr val="E8F3E8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80233" y="5119687"/>
            <a:ext cx="318135" cy="31813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33216" y="5808940"/>
            <a:ext cx="265116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Machine Learning</a:t>
            </a:r>
            <a:endParaRPr lang="en-US" sz="2050" dirty="0"/>
          </a:p>
        </p:txBody>
      </p:sp>
      <p:sp>
        <p:nvSpPr>
          <p:cNvPr id="24" name="Text 18"/>
          <p:cNvSpPr/>
          <p:nvPr/>
        </p:nvSpPr>
        <p:spPr>
          <a:xfrm>
            <a:off x="7633216" y="6267450"/>
            <a:ext cx="6042898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predictive models and apply statistical analysis for real-world business problems</a:t>
            </a:r>
            <a:endParaRPr lang="en-US" sz="16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2B2865-7DDC-2041-A485-CD7BCA12D830}"/>
              </a:ext>
            </a:extLst>
          </p:cNvPr>
          <p:cNvSpPr/>
          <p:nvPr/>
        </p:nvSpPr>
        <p:spPr>
          <a:xfrm>
            <a:off x="12633158" y="7531768"/>
            <a:ext cx="1888958" cy="601579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5" descr="attitude academy">
            <a:extLst>
              <a:ext uri="{FF2B5EF4-FFF2-40B4-BE49-F238E27FC236}">
                <a16:creationId xmlns:a16="http://schemas.microsoft.com/office/drawing/2014/main" id="{278C9C5B-1A71-D671-840B-AD0F002F7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9" y="34374"/>
            <a:ext cx="1280159" cy="50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9082" y="446842"/>
            <a:ext cx="10272236" cy="1014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Real-World Applications of Python in Data Analytics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2179082" y="1887974"/>
            <a:ext cx="6004798" cy="1306235"/>
          </a:xfrm>
          <a:prstGeom prst="roundRect">
            <a:avLst>
              <a:gd name="adj" fmla="val 840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56222" y="1887974"/>
            <a:ext cx="91440" cy="1306235"/>
          </a:xfrm>
          <a:prstGeom prst="roundRect">
            <a:avLst>
              <a:gd name="adj" fmla="val 159850"/>
            </a:avLst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2432923" y="2073235"/>
            <a:ext cx="2030016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Financial Analytics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432923" y="2489359"/>
            <a:ext cx="556569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Risk assessment, portfolio optimisation, and algorithmic trading strategies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79082" y="3356610"/>
            <a:ext cx="6004798" cy="1306235"/>
          </a:xfrm>
          <a:prstGeom prst="roundRect">
            <a:avLst>
              <a:gd name="adj" fmla="val 840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56222" y="3356610"/>
            <a:ext cx="91440" cy="1306235"/>
          </a:xfrm>
          <a:prstGeom prst="roundRect">
            <a:avLst>
              <a:gd name="adj" fmla="val 159850"/>
            </a:avLst>
          </a:prstGeom>
          <a:solidFill>
            <a:srgbClr val="438951"/>
          </a:solidFill>
          <a:ln/>
        </p:spPr>
      </p:sp>
      <p:sp>
        <p:nvSpPr>
          <p:cNvPr id="9" name="Text 7"/>
          <p:cNvSpPr/>
          <p:nvPr/>
        </p:nvSpPr>
        <p:spPr>
          <a:xfrm>
            <a:off x="2432923" y="3541871"/>
            <a:ext cx="2047161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Healthcare Insights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432923" y="3957995"/>
            <a:ext cx="556569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 data analysis, disease prediction, and medical research acceleration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79082" y="4825246"/>
            <a:ext cx="6004798" cy="1306235"/>
          </a:xfrm>
          <a:prstGeom prst="roundRect">
            <a:avLst>
              <a:gd name="adj" fmla="val 840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56222" y="4825246"/>
            <a:ext cx="91440" cy="1306235"/>
          </a:xfrm>
          <a:prstGeom prst="roundRect">
            <a:avLst>
              <a:gd name="adj" fmla="val 159850"/>
            </a:avLst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2432923" y="5010507"/>
            <a:ext cx="2351008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Marketing Intelligence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432923" y="5426631"/>
            <a:ext cx="556569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 segmentation, campaign performance, and predictive customer behaviour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179082" y="6293882"/>
            <a:ext cx="6004798" cy="1306235"/>
          </a:xfrm>
          <a:prstGeom prst="roundRect">
            <a:avLst>
              <a:gd name="adj" fmla="val 840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6222" y="6293882"/>
            <a:ext cx="91440" cy="1306235"/>
          </a:xfrm>
          <a:prstGeom prst="roundRect">
            <a:avLst>
              <a:gd name="adj" fmla="val 159850"/>
            </a:avLst>
          </a:prstGeom>
          <a:solidFill>
            <a:srgbClr val="438951"/>
          </a:solidFill>
          <a:ln/>
        </p:spPr>
      </p:sp>
      <p:sp>
        <p:nvSpPr>
          <p:cNvPr id="17" name="Text 15"/>
          <p:cNvSpPr/>
          <p:nvPr/>
        </p:nvSpPr>
        <p:spPr>
          <a:xfrm>
            <a:off x="2432923" y="6479143"/>
            <a:ext cx="2117527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Business Operations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432923" y="6895267"/>
            <a:ext cx="556569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Supply chain optimisation, demand forecasting, and operational efficiency</a:t>
            </a:r>
            <a:endParaRPr lang="en-US" sz="12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740" y="1887974"/>
            <a:ext cx="3871079" cy="387107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95EAA2D-7C50-D25C-858C-506AF9253BDB}"/>
              </a:ext>
            </a:extLst>
          </p:cNvPr>
          <p:cNvSpPr/>
          <p:nvPr/>
        </p:nvSpPr>
        <p:spPr>
          <a:xfrm>
            <a:off x="12633158" y="7531768"/>
            <a:ext cx="1888958" cy="601579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 descr="attitude academy">
            <a:extLst>
              <a:ext uri="{FF2B5EF4-FFF2-40B4-BE49-F238E27FC236}">
                <a16:creationId xmlns:a16="http://schemas.microsoft.com/office/drawing/2014/main" id="{0B0869C7-44DD-DF5F-E52D-3773E957A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9" y="34374"/>
            <a:ext cx="1280159" cy="50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50783" y="423743"/>
            <a:ext cx="9728835" cy="961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Python vs Traditional Tools: The Competitive Edge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783" y="1692593"/>
            <a:ext cx="9728835" cy="49865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90692" y="6679168"/>
            <a:ext cx="153710" cy="153710"/>
          </a:xfrm>
          <a:prstGeom prst="roundRect">
            <a:avLst>
              <a:gd name="adj" fmla="val 11898"/>
            </a:avLst>
          </a:prstGeom>
          <a:solidFill>
            <a:srgbClr val="19331E"/>
          </a:solidFill>
          <a:ln/>
        </p:spPr>
      </p:sp>
      <p:sp>
        <p:nvSpPr>
          <p:cNvPr id="5" name="Text 2"/>
          <p:cNvSpPr/>
          <p:nvPr/>
        </p:nvSpPr>
        <p:spPr>
          <a:xfrm>
            <a:off x="6705362" y="6679168"/>
            <a:ext cx="533638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91400" y="6679168"/>
            <a:ext cx="153710" cy="153710"/>
          </a:xfrm>
          <a:prstGeom prst="roundRect">
            <a:avLst>
              <a:gd name="adj" fmla="val 11898"/>
            </a:avLst>
          </a:prstGeom>
          <a:solidFill>
            <a:srgbClr val="346A3F"/>
          </a:solidFill>
          <a:ln/>
        </p:spPr>
      </p:sp>
      <p:sp>
        <p:nvSpPr>
          <p:cNvPr id="7" name="Text 4"/>
          <p:cNvSpPr/>
          <p:nvPr/>
        </p:nvSpPr>
        <p:spPr>
          <a:xfrm>
            <a:off x="7606070" y="6679168"/>
            <a:ext cx="1213604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Traditional Tools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450783" y="7313652"/>
            <a:ext cx="9728835" cy="49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 outperforms traditional analytics tools in automation, scalability, and flexibility, whilst offering superior cost efficiency for businesses of all sizes.</a:t>
            </a:r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F7D90F-9D00-4625-C02D-E90657416821}"/>
              </a:ext>
            </a:extLst>
          </p:cNvPr>
          <p:cNvSpPr/>
          <p:nvPr/>
        </p:nvSpPr>
        <p:spPr>
          <a:xfrm>
            <a:off x="12633158" y="7531768"/>
            <a:ext cx="1888958" cy="601579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ttitude academy">
            <a:extLst>
              <a:ext uri="{FF2B5EF4-FFF2-40B4-BE49-F238E27FC236}">
                <a16:creationId xmlns:a16="http://schemas.microsoft.com/office/drawing/2014/main" id="{843B64DA-2A2E-BAB6-6A6A-7B0FFAE6B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9" y="34374"/>
            <a:ext cx="1280159" cy="50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3874889"/>
            <a:ext cx="1819751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3942874"/>
            <a:ext cx="154757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CAREER GROWTH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4391858"/>
            <a:ext cx="103385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High-Demand Career Opportunities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5440799"/>
            <a:ext cx="4196358" cy="1749147"/>
          </a:xfrm>
          <a:prstGeom prst="roundRect">
            <a:avLst>
              <a:gd name="adj" fmla="val 11671"/>
            </a:avLst>
          </a:prstGeom>
          <a:solidFill>
            <a:srgbClr val="438951"/>
          </a:solidFill>
          <a:ln/>
        </p:spPr>
      </p:sp>
      <p:sp>
        <p:nvSpPr>
          <p:cNvPr id="7" name="Text 4"/>
          <p:cNvSpPr/>
          <p:nvPr/>
        </p:nvSpPr>
        <p:spPr>
          <a:xfrm>
            <a:off x="1020604" y="5667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Analyst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615803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Entry-level: £35,000–£50,000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20604" y="660023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Senior: £60,000–£85,000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16962" y="5440799"/>
            <a:ext cx="4196358" cy="1749147"/>
          </a:xfrm>
          <a:prstGeom prst="roundRect">
            <a:avLst>
              <a:gd name="adj" fmla="val 11671"/>
            </a:avLst>
          </a:prstGeom>
          <a:solidFill>
            <a:srgbClr val="438951"/>
          </a:solidFill>
          <a:ln/>
        </p:spPr>
      </p:sp>
      <p:sp>
        <p:nvSpPr>
          <p:cNvPr id="11" name="Text 8"/>
          <p:cNvSpPr/>
          <p:nvPr/>
        </p:nvSpPr>
        <p:spPr>
          <a:xfrm>
            <a:off x="5443776" y="5667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Scientist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443776" y="615803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Mid-level: £50,000–£75,000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443776" y="660023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Senior: £80,000–£120,000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9640133" y="5440799"/>
            <a:ext cx="4196358" cy="1749147"/>
          </a:xfrm>
          <a:prstGeom prst="roundRect">
            <a:avLst>
              <a:gd name="adj" fmla="val 11671"/>
            </a:avLst>
          </a:prstGeom>
          <a:solidFill>
            <a:srgbClr val="438951"/>
          </a:solidFill>
          <a:ln/>
        </p:spPr>
      </p:sp>
      <p:sp>
        <p:nvSpPr>
          <p:cNvPr id="15" name="Text 12"/>
          <p:cNvSpPr/>
          <p:nvPr/>
        </p:nvSpPr>
        <p:spPr>
          <a:xfrm>
            <a:off x="9866948" y="5667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ML Engineer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866948" y="615803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Mid-level: £60,000–£85,000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9866948" y="660023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Senior: £90,000–£140,000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C3381B-411A-03B3-70BA-2755B299091E}"/>
              </a:ext>
            </a:extLst>
          </p:cNvPr>
          <p:cNvSpPr/>
          <p:nvPr/>
        </p:nvSpPr>
        <p:spPr>
          <a:xfrm>
            <a:off x="12633158" y="7531768"/>
            <a:ext cx="1888958" cy="601579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 descr="attitude academy">
            <a:extLst>
              <a:ext uri="{FF2B5EF4-FFF2-40B4-BE49-F238E27FC236}">
                <a16:creationId xmlns:a16="http://schemas.microsoft.com/office/drawing/2014/main" id="{E48B28E4-E826-D2CB-AFA1-A12E07CD4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9" y="34374"/>
            <a:ext cx="1280159" cy="50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9485" y="414338"/>
            <a:ext cx="8223766" cy="470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Build Your Python Data Analytics Portfolio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549485" y="1261824"/>
            <a:ext cx="3155752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Essential Portfolio Projects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2549485" y="1713786"/>
            <a:ext cx="150614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549485" y="1954649"/>
            <a:ext cx="4086820" cy="1524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6" name="Text 4"/>
          <p:cNvSpPr/>
          <p:nvPr/>
        </p:nvSpPr>
        <p:spPr>
          <a:xfrm>
            <a:off x="2549485" y="2060377"/>
            <a:ext cx="2512814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Exploratory Data Analysis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549485" y="2446377"/>
            <a:ext cx="4086820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Analyse real datasets to uncover patterns and trends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49485" y="2951083"/>
            <a:ext cx="150614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49485" y="3191947"/>
            <a:ext cx="4086820" cy="1524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0" name="Text 8"/>
          <p:cNvSpPr/>
          <p:nvPr/>
        </p:nvSpPr>
        <p:spPr>
          <a:xfrm>
            <a:off x="2549485" y="3297674"/>
            <a:ext cx="1986796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Predictive Modelling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549485" y="3683675"/>
            <a:ext cx="4086820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machine learning models for forecasting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49485" y="4188381"/>
            <a:ext cx="150614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49485" y="4429244"/>
            <a:ext cx="4086820" cy="1524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4" name="Text 12"/>
          <p:cNvSpPr/>
          <p:nvPr/>
        </p:nvSpPr>
        <p:spPr>
          <a:xfrm>
            <a:off x="2549485" y="4534972"/>
            <a:ext cx="284761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Visualisation Dashboard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549485" y="4920972"/>
            <a:ext cx="4086820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 interactive dashboards with Plotly or Dash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49485" y="5425678"/>
            <a:ext cx="150614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49485" y="5666542"/>
            <a:ext cx="4086820" cy="1524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8" name="Text 16"/>
          <p:cNvSpPr/>
          <p:nvPr/>
        </p:nvSpPr>
        <p:spPr>
          <a:xfrm>
            <a:off x="2549485" y="5772269"/>
            <a:ext cx="2064663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Web Scraping Project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549485" y="6158270"/>
            <a:ext cx="4086820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Extract and analyse data from websites</a:t>
            </a:r>
            <a:endParaRPr lang="en-US" sz="12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591" y="1280636"/>
            <a:ext cx="5076825" cy="5076825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011591" y="6526887"/>
            <a:ext cx="5076825" cy="1122402"/>
          </a:xfrm>
          <a:prstGeom prst="roundRect">
            <a:avLst>
              <a:gd name="adj" fmla="val 12084"/>
            </a:avLst>
          </a:prstGeom>
          <a:solidFill>
            <a:srgbClr val="CCE6D1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205" y="6743343"/>
            <a:ext cx="188357" cy="15061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501176" y="6715125"/>
            <a:ext cx="4436626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 tip:</a:t>
            </a:r>
            <a:r>
              <a:rPr lang="en-US" sz="11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Showcase your projects on GitHub with clear documentation and visualisations to stand out to potential employers.</a:t>
            </a:r>
            <a:endParaRPr lang="en-US" sz="11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37049B-054E-6351-8E51-D7D4F63E4C1F}"/>
              </a:ext>
            </a:extLst>
          </p:cNvPr>
          <p:cNvSpPr/>
          <p:nvPr/>
        </p:nvSpPr>
        <p:spPr>
          <a:xfrm>
            <a:off x="12633158" y="7531768"/>
            <a:ext cx="1888958" cy="601579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 descr="attitude academy">
            <a:extLst>
              <a:ext uri="{FF2B5EF4-FFF2-40B4-BE49-F238E27FC236}">
                <a16:creationId xmlns:a16="http://schemas.microsoft.com/office/drawing/2014/main" id="{640B0E4B-07FC-2B00-8FC1-0A05DDA84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9" y="34374"/>
            <a:ext cx="1280159" cy="50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4916" y="757952"/>
            <a:ext cx="8126968" cy="907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Industry Certifications That Boost Your Career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5994916" y="2101691"/>
            <a:ext cx="8126968" cy="1070134"/>
          </a:xfrm>
          <a:prstGeom prst="roundRect">
            <a:avLst>
              <a:gd name="adj" fmla="val 6836"/>
            </a:avLst>
          </a:prstGeom>
          <a:solidFill>
            <a:srgbClr val="FAFFFA"/>
          </a:solidFill>
          <a:ln/>
        </p:spPr>
      </p:sp>
      <p:sp>
        <p:nvSpPr>
          <p:cNvPr id="5" name="Shape 2"/>
          <p:cNvSpPr/>
          <p:nvPr/>
        </p:nvSpPr>
        <p:spPr>
          <a:xfrm>
            <a:off x="5994916" y="2086451"/>
            <a:ext cx="8126968" cy="60960"/>
          </a:xfrm>
          <a:prstGeom prst="roundRect">
            <a:avLst>
              <a:gd name="adj" fmla="val 214517"/>
            </a:avLst>
          </a:prstGeom>
          <a:solidFill>
            <a:srgbClr val="438951"/>
          </a:solidFill>
          <a:ln/>
        </p:spPr>
      </p:sp>
      <p:sp>
        <p:nvSpPr>
          <p:cNvPr id="6" name="Shape 3"/>
          <p:cNvSpPr/>
          <p:nvPr/>
        </p:nvSpPr>
        <p:spPr>
          <a:xfrm>
            <a:off x="9840456" y="1883807"/>
            <a:ext cx="435888" cy="435888"/>
          </a:xfrm>
          <a:prstGeom prst="roundRect">
            <a:avLst>
              <a:gd name="adj" fmla="val 209779"/>
            </a:avLst>
          </a:prstGeom>
          <a:solidFill>
            <a:srgbClr val="43895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71187" y="2014538"/>
            <a:ext cx="174308" cy="1743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55412" y="2464832"/>
            <a:ext cx="2106692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Python Institute PCAP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155412" y="2778919"/>
            <a:ext cx="7805976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Certified Associate in Python Programming validates fundamental Python skills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994916" y="3534966"/>
            <a:ext cx="8126968" cy="1070134"/>
          </a:xfrm>
          <a:prstGeom prst="roundRect">
            <a:avLst>
              <a:gd name="adj" fmla="val 6836"/>
            </a:avLst>
          </a:prstGeom>
          <a:solidFill>
            <a:srgbClr val="FAFFFA"/>
          </a:solidFill>
          <a:ln/>
        </p:spPr>
      </p:sp>
      <p:sp>
        <p:nvSpPr>
          <p:cNvPr id="11" name="Shape 7"/>
          <p:cNvSpPr/>
          <p:nvPr/>
        </p:nvSpPr>
        <p:spPr>
          <a:xfrm>
            <a:off x="5994916" y="3519726"/>
            <a:ext cx="8126968" cy="60960"/>
          </a:xfrm>
          <a:prstGeom prst="roundRect">
            <a:avLst>
              <a:gd name="adj" fmla="val 214517"/>
            </a:avLst>
          </a:prstGeom>
          <a:solidFill>
            <a:srgbClr val="438951"/>
          </a:solidFill>
          <a:ln/>
        </p:spPr>
      </p:sp>
      <p:sp>
        <p:nvSpPr>
          <p:cNvPr id="12" name="Shape 8"/>
          <p:cNvSpPr/>
          <p:nvPr/>
        </p:nvSpPr>
        <p:spPr>
          <a:xfrm>
            <a:off x="9840456" y="3317081"/>
            <a:ext cx="435888" cy="435888"/>
          </a:xfrm>
          <a:prstGeom prst="roundRect">
            <a:avLst>
              <a:gd name="adj" fmla="val 209779"/>
            </a:avLst>
          </a:prstGeom>
          <a:solidFill>
            <a:srgbClr val="43895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71187" y="3447812"/>
            <a:ext cx="174308" cy="17430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55412" y="3898106"/>
            <a:ext cx="2134314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Microsoft Data Analyst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155412" y="4212193"/>
            <a:ext cx="7805976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Power BI and Python integration for enterprise-level analytics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994916" y="4968240"/>
            <a:ext cx="8126968" cy="1070134"/>
          </a:xfrm>
          <a:prstGeom prst="roundRect">
            <a:avLst>
              <a:gd name="adj" fmla="val 6836"/>
            </a:avLst>
          </a:prstGeom>
          <a:solidFill>
            <a:srgbClr val="FAFFFA"/>
          </a:solidFill>
          <a:ln/>
        </p:spPr>
      </p:sp>
      <p:sp>
        <p:nvSpPr>
          <p:cNvPr id="17" name="Shape 12"/>
          <p:cNvSpPr/>
          <p:nvPr/>
        </p:nvSpPr>
        <p:spPr>
          <a:xfrm>
            <a:off x="5994916" y="4953000"/>
            <a:ext cx="8126968" cy="60960"/>
          </a:xfrm>
          <a:prstGeom prst="roundRect">
            <a:avLst>
              <a:gd name="adj" fmla="val 214517"/>
            </a:avLst>
          </a:prstGeom>
          <a:solidFill>
            <a:srgbClr val="438951"/>
          </a:solidFill>
          <a:ln/>
        </p:spPr>
      </p:sp>
      <p:sp>
        <p:nvSpPr>
          <p:cNvPr id="18" name="Shape 13"/>
          <p:cNvSpPr/>
          <p:nvPr/>
        </p:nvSpPr>
        <p:spPr>
          <a:xfrm>
            <a:off x="9840456" y="4750356"/>
            <a:ext cx="435888" cy="435888"/>
          </a:xfrm>
          <a:prstGeom prst="roundRect">
            <a:avLst>
              <a:gd name="adj" fmla="val 209779"/>
            </a:avLst>
          </a:prstGeom>
          <a:solidFill>
            <a:srgbClr val="438951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71187" y="4881086"/>
            <a:ext cx="174308" cy="17430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5412" y="5331381"/>
            <a:ext cx="2026325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Google Data Analytics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155412" y="5645468"/>
            <a:ext cx="7805976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Professional certificate covering Python, SQL, and visualisation tools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994916" y="6401514"/>
            <a:ext cx="8126968" cy="1070134"/>
          </a:xfrm>
          <a:prstGeom prst="roundRect">
            <a:avLst>
              <a:gd name="adj" fmla="val 6836"/>
            </a:avLst>
          </a:prstGeom>
          <a:solidFill>
            <a:srgbClr val="FAFFFA"/>
          </a:solidFill>
          <a:ln/>
        </p:spPr>
      </p:sp>
      <p:sp>
        <p:nvSpPr>
          <p:cNvPr id="23" name="Shape 17"/>
          <p:cNvSpPr/>
          <p:nvPr/>
        </p:nvSpPr>
        <p:spPr>
          <a:xfrm>
            <a:off x="5994916" y="6386274"/>
            <a:ext cx="8126968" cy="60960"/>
          </a:xfrm>
          <a:prstGeom prst="roundRect">
            <a:avLst>
              <a:gd name="adj" fmla="val 214517"/>
            </a:avLst>
          </a:prstGeom>
          <a:solidFill>
            <a:srgbClr val="438951"/>
          </a:solidFill>
          <a:ln/>
        </p:spPr>
      </p:sp>
      <p:sp>
        <p:nvSpPr>
          <p:cNvPr id="24" name="Shape 18"/>
          <p:cNvSpPr/>
          <p:nvPr/>
        </p:nvSpPr>
        <p:spPr>
          <a:xfrm>
            <a:off x="9840456" y="6183630"/>
            <a:ext cx="435888" cy="435888"/>
          </a:xfrm>
          <a:prstGeom prst="roundRect">
            <a:avLst>
              <a:gd name="adj" fmla="val 209779"/>
            </a:avLst>
          </a:prstGeom>
          <a:solidFill>
            <a:srgbClr val="438951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71187" y="6314361"/>
            <a:ext cx="174308" cy="17430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155412" y="6764655"/>
            <a:ext cx="1816179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IBM Data Science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155412" y="7078742"/>
            <a:ext cx="7805976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Professional certificate in machine learning and Python programming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5876B1-2D00-152A-C947-67F6C59C40AD}"/>
              </a:ext>
            </a:extLst>
          </p:cNvPr>
          <p:cNvSpPr/>
          <p:nvPr/>
        </p:nvSpPr>
        <p:spPr>
          <a:xfrm>
            <a:off x="12633158" y="7531768"/>
            <a:ext cx="1888958" cy="601579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" name="Picture 28" descr="attitude academy">
            <a:extLst>
              <a:ext uri="{FF2B5EF4-FFF2-40B4-BE49-F238E27FC236}">
                <a16:creationId xmlns:a16="http://schemas.microsoft.com/office/drawing/2014/main" id="{95E8B25D-E915-FBD6-B4DF-5BB417F37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9" y="34374"/>
            <a:ext cx="1280159" cy="50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5622" y="739259"/>
            <a:ext cx="8479274" cy="513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Start Your Data Analytics Journey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115622" y="1663898"/>
            <a:ext cx="5455920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Why Choose Professional Python Training?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115622" y="2156936"/>
            <a:ext cx="369927" cy="369927"/>
          </a:xfrm>
          <a:prstGeom prst="roundRect">
            <a:avLst>
              <a:gd name="adj" fmla="val 40000"/>
            </a:avLst>
          </a:prstGeom>
          <a:solidFill>
            <a:srgbClr val="E8F3E8"/>
          </a:solidFill>
          <a:ln/>
        </p:spPr>
      </p:sp>
      <p:sp>
        <p:nvSpPr>
          <p:cNvPr id="5" name="Text 3"/>
          <p:cNvSpPr/>
          <p:nvPr/>
        </p:nvSpPr>
        <p:spPr>
          <a:xfrm>
            <a:off x="2649855" y="2213372"/>
            <a:ext cx="3106579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Industry-relevant curriculum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49855" y="2634496"/>
            <a:ext cx="5004673" cy="526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Learn the latest tools and techniques used by leading companies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15622" y="3489246"/>
            <a:ext cx="369927" cy="369927"/>
          </a:xfrm>
          <a:prstGeom prst="roundRect">
            <a:avLst>
              <a:gd name="adj" fmla="val 40000"/>
            </a:avLst>
          </a:prstGeom>
          <a:solidFill>
            <a:srgbClr val="E8F3E8"/>
          </a:solidFill>
          <a:ln/>
        </p:spPr>
      </p:sp>
      <p:sp>
        <p:nvSpPr>
          <p:cNvPr id="8" name="Text 6"/>
          <p:cNvSpPr/>
          <p:nvPr/>
        </p:nvSpPr>
        <p:spPr>
          <a:xfrm>
            <a:off x="2649855" y="3545681"/>
            <a:ext cx="3185755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Hands-on practical experience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49855" y="3966805"/>
            <a:ext cx="5004673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Work on real-world projects that build your portfolio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15622" y="4558546"/>
            <a:ext cx="369927" cy="369927"/>
          </a:xfrm>
          <a:prstGeom prst="roundRect">
            <a:avLst>
              <a:gd name="adj" fmla="val 40000"/>
            </a:avLst>
          </a:prstGeom>
          <a:solidFill>
            <a:srgbClr val="E8F3E8"/>
          </a:solidFill>
          <a:ln/>
        </p:spPr>
      </p:sp>
      <p:sp>
        <p:nvSpPr>
          <p:cNvPr id="11" name="Text 9"/>
          <p:cNvSpPr/>
          <p:nvPr/>
        </p:nvSpPr>
        <p:spPr>
          <a:xfrm>
            <a:off x="2649855" y="4614982"/>
            <a:ext cx="2055138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Expert mentorship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49855" y="5036106"/>
            <a:ext cx="5004673" cy="526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Guidance from experienced data professionals throughout your journey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15622" y="5890855"/>
            <a:ext cx="369927" cy="369927"/>
          </a:xfrm>
          <a:prstGeom prst="roundRect">
            <a:avLst>
              <a:gd name="adj" fmla="val 40000"/>
            </a:avLst>
          </a:prstGeom>
          <a:solidFill>
            <a:srgbClr val="E8F3E8"/>
          </a:solidFill>
          <a:ln/>
        </p:spPr>
      </p:sp>
      <p:sp>
        <p:nvSpPr>
          <p:cNvPr id="14" name="Text 12"/>
          <p:cNvSpPr/>
          <p:nvPr/>
        </p:nvSpPr>
        <p:spPr>
          <a:xfrm>
            <a:off x="2649855" y="5947291"/>
            <a:ext cx="2472452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Career support services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49855" y="6368415"/>
            <a:ext cx="5004673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Job placement assistance and interview preparation included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15622" y="6816328"/>
            <a:ext cx="5538907" cy="526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5449"/>
                </a:solidFill>
                <a:highlight>
                  <a:srgbClr val="D1E7D2"/>
                </a:highlight>
                <a:latin typeface="Nobile" pitchFamily="34" charset="0"/>
                <a:ea typeface="Nobile" pitchFamily="34" charset="-122"/>
                <a:cs typeface="Nobile" pitchFamily="34" charset="-120"/>
              </a:rPr>
              <a:t>Transform your career with Python data analytics skills and unlock unlimited opportunities in the fastest-growing field.</a:t>
            </a:r>
            <a:endParaRPr lang="en-US" sz="12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151" y="1684496"/>
            <a:ext cx="2959418" cy="164401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0B2329A-54B9-BF81-9F2A-CAA1311B7BF2}"/>
              </a:ext>
            </a:extLst>
          </p:cNvPr>
          <p:cNvSpPr/>
          <p:nvPr/>
        </p:nvSpPr>
        <p:spPr>
          <a:xfrm>
            <a:off x="12633158" y="7531768"/>
            <a:ext cx="1888958" cy="601579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 descr="attitude academy">
            <a:extLst>
              <a:ext uri="{FF2B5EF4-FFF2-40B4-BE49-F238E27FC236}">
                <a16:creationId xmlns:a16="http://schemas.microsoft.com/office/drawing/2014/main" id="{24FA1523-A2AA-DDE6-4FAF-07D18EB49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9" y="34374"/>
            <a:ext cx="1280159" cy="50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50A04B-FCD6-BCFC-B984-559B0F0842E9}"/>
              </a:ext>
            </a:extLst>
          </p:cNvPr>
          <p:cNvSpPr/>
          <p:nvPr/>
        </p:nvSpPr>
        <p:spPr>
          <a:xfrm>
            <a:off x="12633158" y="7531768"/>
            <a:ext cx="1888958" cy="601579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52C98C-C2BA-B4C4-D628-0D8C291CC850}"/>
              </a:ext>
            </a:extLst>
          </p:cNvPr>
          <p:cNvSpPr/>
          <p:nvPr/>
        </p:nvSpPr>
        <p:spPr>
          <a:xfrm>
            <a:off x="12427073" y="7682270"/>
            <a:ext cx="2129883" cy="5129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rgbClr val="5C2438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03495C-D147-1A2D-3AE4-78D26FA2B184}"/>
              </a:ext>
            </a:extLst>
          </p:cNvPr>
          <p:cNvSpPr/>
          <p:nvPr/>
        </p:nvSpPr>
        <p:spPr>
          <a:xfrm>
            <a:off x="3458761" y="1406080"/>
            <a:ext cx="840735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8800" dirty="0">
                <a:latin typeface="Baskerville Old Face" pitchFamily="18" charset="0"/>
              </a:rPr>
              <a:t>THANK YOU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35EC89-42EA-934F-7637-E88FCCE9D6DC}"/>
              </a:ext>
            </a:extLst>
          </p:cNvPr>
          <p:cNvSpPr/>
          <p:nvPr/>
        </p:nvSpPr>
        <p:spPr>
          <a:xfrm>
            <a:off x="105921" y="3735965"/>
            <a:ext cx="14452600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700" dirty="0">
                <a:latin typeface="Baskerville Old Face" pitchFamily="18" charset="0"/>
              </a:rPr>
              <a:t>Thank you for joining </a:t>
            </a:r>
            <a:r>
              <a:rPr lang="en-US" sz="2700" dirty="0">
                <a:latin typeface="Bahnschrift Light SemiCondensed" panose="020B0502040204020203" pitchFamily="34" charset="0"/>
              </a:rPr>
              <a:t>us</a:t>
            </a:r>
            <a:r>
              <a:rPr lang="en-US" sz="2700" dirty="0">
                <a:latin typeface="Baskerville Old Face" pitchFamily="18" charset="0"/>
              </a:rPr>
              <a:t> today. We hope you found this presentation valuable. We wish you all the best.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591880-2E55-0563-40D3-7898902BDE9E}"/>
              </a:ext>
            </a:extLst>
          </p:cNvPr>
          <p:cNvSpPr/>
          <p:nvPr/>
        </p:nvSpPr>
        <p:spPr>
          <a:xfrm>
            <a:off x="1410847" y="4623764"/>
            <a:ext cx="12677774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Baskerville Old Face" pitchFamily="18" charset="0"/>
              </a:rPr>
              <a:t>For more information, or visit our website:- </a:t>
            </a:r>
            <a:r>
              <a:rPr lang="en-US" sz="3600" dirty="0">
                <a:latin typeface="Baskerville Old Face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Attitude Academy</a:t>
            </a:r>
            <a:endParaRPr lang="en-US" sz="3600" dirty="0">
              <a:latin typeface="Baskerville Old Face" pitchFamily="18" charset="0"/>
            </a:endParaRPr>
          </a:p>
        </p:txBody>
      </p:sp>
      <p:pic>
        <p:nvPicPr>
          <p:cNvPr id="7" name="Picture 6" descr="attitude academy">
            <a:extLst>
              <a:ext uri="{FF2B5EF4-FFF2-40B4-BE49-F238E27FC236}">
                <a16:creationId xmlns:a16="http://schemas.microsoft.com/office/drawing/2014/main" id="{9F47B913-BD21-2493-F8AA-F5EC2FA09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1" y="34374"/>
            <a:ext cx="1280159" cy="50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ttitude academy">
            <a:extLst>
              <a:ext uri="{FF2B5EF4-FFF2-40B4-BE49-F238E27FC236}">
                <a16:creationId xmlns:a16="http://schemas.microsoft.com/office/drawing/2014/main" id="{7C7F29E8-91D1-3F90-D63D-08EEF30F5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9" y="34374"/>
            <a:ext cx="1280159" cy="50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451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595</Words>
  <Application>Microsoft Office PowerPoint</Application>
  <PresentationFormat>Custom</PresentationFormat>
  <Paragraphs>103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Fraunces Extra Bold</vt:lpstr>
      <vt:lpstr>Nobile</vt:lpstr>
      <vt:lpstr>Arial</vt:lpstr>
      <vt:lpstr>Baskerville Old Face</vt:lpstr>
      <vt:lpstr>Fraunces Light</vt:lpstr>
      <vt:lpstr>Bahnschrift Light SemiCondensed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afiya ansari</dc:creator>
  <cp:lastModifiedBy>afiya ansari</cp:lastModifiedBy>
  <cp:revision>2</cp:revision>
  <dcterms:created xsi:type="dcterms:W3CDTF">2026-01-08T09:14:43Z</dcterms:created>
  <dcterms:modified xsi:type="dcterms:W3CDTF">2026-01-08T09:22:10Z</dcterms:modified>
</cp:coreProperties>
</file>